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7"/>
    <p:sldId id="268" r:id="rId18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2D52"/>
                </a:solidFill>
                <a:latin typeface="Aptos Display"/>
              </a:defRPr>
            </a:pPr>
            <a:r>
              <a:t>DATA ANALYTICS AND VISUALIZATION (24DSB3101)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256" y="1470992"/>
            <a:ext cx="9331785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 Display"/>
              </a:defRPr>
            </a:pP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4B4B4B"/>
                </a:solidFill>
                <a:latin typeface="Aptos"/>
              </a:defRPr>
            </a:pPr>
            <a:r>
              <a:rPr dirty="0"/>
              <a:t>AI-Driven Customer Analytics for Purchase Prediction, Segmentation &amp;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862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1414"/>
                </a:solidFill>
                <a:latin typeface="Aptos"/>
              </a:defRPr>
            </a:pPr>
            <a:r>
              <a:t>Batch – 6</a:t>
            </a:r>
          </a:p>
          <a:p>
            <a:pPr>
              <a:spcAft>
                <a:spcPts val="500"/>
              </a:spcAft>
              <a:defRPr sz="1700" b="0">
                <a:solidFill>
                  <a:srgbClr val="141414"/>
                </a:solidFill>
                <a:latin typeface="Aptos"/>
              </a:defRPr>
            </a:pPr>
            <a:r>
              <a:t>2420030373 – M. Pallavi</a:t>
            </a:r>
          </a:p>
          <a:p>
            <a:pPr>
              <a:spcAft>
                <a:spcPts val="500"/>
              </a:spcAft>
              <a:defRPr sz="1700" b="0">
                <a:solidFill>
                  <a:srgbClr val="141414"/>
                </a:solidFill>
                <a:latin typeface="Aptos"/>
              </a:defRPr>
            </a:pPr>
            <a:r>
              <a:t>2420030481 – G. Divija Medha</a:t>
            </a:r>
          </a:p>
          <a:p>
            <a:pPr>
              <a:spcAft>
                <a:spcPts val="500"/>
              </a:spcAft>
              <a:defRPr sz="1700" b="0">
                <a:solidFill>
                  <a:srgbClr val="141414"/>
                </a:solidFill>
                <a:latin typeface="Aptos"/>
              </a:defRPr>
            </a:pPr>
            <a:r>
              <a:t>2420090067 – Sheri Saswitha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Customer purchase behavior is difficult to understand and predict because organizations generate large and complex datasets containing transactions, demographics, spending patterns, and online behavior.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Important relationships and purchasing patterns may remain hidden inside customer data.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Organizations need to predict future purchases, customer churn, and customer lifetime value (CLV), while converting analytical findings into actionable marketing and sales decisions.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Therefore, an integrated Machine Learning, Explainable AI, and Business Intelligence framework is needed to analyze behavior, predict outcomes, explain decisions, and provide useful business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Aptos Display"/>
              </a:rPr>
              <a:t>3.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2150">
                <a:solidFill>
                  <a:srgbClr val="141414"/>
                </a:solidFill>
                <a:latin typeface="Aptos"/>
              </a:defRPr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To understand</a:t>
            </a:r>
            <a:r>
              <a:rPr sz="2150">
                <a:latin typeface="Aptos"/>
              </a:rPr>
              <a:t> customer demographics, purchasing behavior, purchase patterns, and RFM characteristics.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To enable accurate prediction of</a:t>
            </a:r>
            <a:r>
              <a:rPr sz="2150">
                <a:latin typeface="Aptos"/>
              </a:rPr>
              <a:t> future purchases, purchase frequency, customer churn, and customer lifetime value.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To perform</a:t>
            </a:r>
            <a:r>
              <a:rPr sz="2150">
                <a:latin typeface="Aptos"/>
              </a:rPr>
              <a:t> customer segmentation and identify meaningful customer groups using data-driven techniques.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To integrate</a:t>
            </a:r>
            <a:r>
              <a:rPr sz="2150">
                <a:latin typeface="Aptos"/>
              </a:rPr>
              <a:t> SHAP and LIME techniques to provide clear and understandable explanations of machine learning predictions.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To develop</a:t>
            </a:r>
            <a:r>
              <a:rPr sz="2150">
                <a:latin typeface="Aptos"/>
              </a:rPr>
              <a:t> an interactive Streamlit dashboard that provides business insights and supports better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Literature Survey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161288"/>
            <a:ext cx="49834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D52"/>
                </a:solidFill>
              </a:defRPr>
            </a:pPr>
            <a:r>
              <a:t>Traditional Customer Analytics</a:t>
            </a:r>
          </a:p>
          <a:p>
            <a:pPr>
              <a:spcBef>
                <a:spcPts val="400"/>
              </a:spcBef>
              <a:defRPr sz="1200">
                <a:solidFill>
                  <a:srgbClr val="141414"/>
                </a:solidFill>
              </a:defRPr>
            </a:pPr>
            <a:r>
              <a:t>Descriptive analysis of transactions, sales trends and customer summaries.</a:t>
            </a:r>
            <a:br/>
            <a:r>
              <a:t>Limitation: Limited predictive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515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3952" y="1161288"/>
            <a:ext cx="49834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D52"/>
                </a:solidFill>
              </a:defRPr>
            </a:pPr>
            <a:r>
              <a:t>RFM Analysis</a:t>
            </a:r>
          </a:p>
          <a:p>
            <a:pPr>
              <a:spcBef>
                <a:spcPts val="400"/>
              </a:spcBef>
              <a:defRPr sz="1200">
                <a:solidFill>
                  <a:srgbClr val="141414"/>
                </a:solidFill>
              </a:defRPr>
            </a:pPr>
            <a:r>
              <a:t>Segments customers using Recency, Frequency and Monetary value.</a:t>
            </a:r>
            <a:br/>
            <a:r>
              <a:t>Limitation: Primarily segmentation-focused.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517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49834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D52"/>
                </a:solidFill>
              </a:defRPr>
            </a:pPr>
            <a:r>
              <a:t>Machine Learning</a:t>
            </a:r>
          </a:p>
          <a:p>
            <a:pPr>
              <a:spcBef>
                <a:spcPts val="400"/>
              </a:spcBef>
              <a:defRPr sz="1200">
                <a:solidFill>
                  <a:srgbClr val="141414"/>
                </a:solidFill>
              </a:defRPr>
            </a:pPr>
            <a:r>
              <a:t>Logistic Regression, Decision Tree and ensemble models support customer prediction.</a:t>
            </a:r>
            <a:br/>
            <a:r>
              <a:t>Need: Model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517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761488"/>
            <a:ext cx="49834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D52"/>
                </a:solidFill>
              </a:defRPr>
            </a:pPr>
            <a:r>
              <a:t>Explainable AI</a:t>
            </a:r>
          </a:p>
          <a:p>
            <a:pPr>
              <a:spcBef>
                <a:spcPts val="400"/>
              </a:spcBef>
              <a:defRPr sz="1200">
                <a:solidFill>
                  <a:srgbClr val="141414"/>
                </a:solidFill>
              </a:defRPr>
            </a:pPr>
            <a:r>
              <a:t>SHAP and LIME help interpret machine-learning predictions.</a:t>
            </a:r>
            <a:br/>
            <a:r>
              <a:t>Limitation: Often separated from BI.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2519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361688"/>
            <a:ext cx="49834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D52"/>
                </a:solidFill>
              </a:defRPr>
            </a:pPr>
            <a:r>
              <a:t>Business Intelligence</a:t>
            </a:r>
          </a:p>
          <a:p>
            <a:pPr>
              <a:spcBef>
                <a:spcPts val="400"/>
              </a:spcBef>
              <a:defRPr sz="1200">
                <a:solidFill>
                  <a:srgbClr val="141414"/>
                </a:solidFill>
              </a:defRPr>
            </a:pPr>
            <a:r>
              <a:t>Dashboards convert analytical results into decision-support information.</a:t>
            </a:r>
            <a:br/>
            <a:r>
              <a:t>Challenge: Integration with ML and XAI.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D52"/>
                </a:solidFill>
              </a:defRPr>
            </a:pPr>
            <a:r>
              <a:t>Literature Insight: Integrated ML + Explainable AI + Business Intelligence is the proposed direction.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Literature Survey – Papers 1 to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47571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9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Publication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Contribution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Research on E-Commerce Purchase Prediction Model Based on Machine Learning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2023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Frontiers in AI and AI Applications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machine learning to predict customer purchasing behavior from e-commerce data.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Retail Industry Analytics: Unraveling Consumer Behavior through RFM Segmentation and Machine Learning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2024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IEEE – eIT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Combines RFM analysis with machine learning for consumer segmentation and CLV analysis.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Customer Churn Prediction Model using Explainable Machine Learning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2023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arXiv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ML and SHAP-based explanations to identify factors influencing customer churn.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 Data-Driven Approach to Customer Lifetime Value Prediction Using Probability and Machine Learning Models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2025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Data Analytics Journal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Compares approaches for predicting customer lifetime value and supporting business decisions.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 Hybrid CNN-BiLSTM Approach for Predicting the Purchase Behavior of Customers in E-Commerce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Scientific Reports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deep learning to capture complex customer purchase behavior patterns.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Literature Survey – Papers 6 to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47571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9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Publication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Contribution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Supervised Distance Metric Learning with RFM-Based Business Knowledge for Customer Segmentation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Procedia Computer Science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Combines RFM business knowledge with machine learning for customer segmentation.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Automating Consumer Segmentation in E-Commerce Using Clustering and the NSGA-II Algorithm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Procedia Computer Science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clustering and optimization for scalable customer segmentation.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Explainable AI-Driven Customer Churn Prediction: A Multi-Model Ensemble Approach with SHAP-Based Feature Analysis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Frontiers in Artificial Intelligence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Combines ensemble ML models with SHAP for churn prediction and interpretation.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Forecasting Online Shoppers’ Purchase Intentions Using Machine Learning and Ensemble Modeling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Springer – LNICST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ML and ensemble models to predict online purchase intentions.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Predicting E-Commerce Purchase Behavior Using a DQN-Inspired Deep Learning Model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2025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arXiv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deep learning to model complex and sequential e-commerce purchase patterns.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Research Gaps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50">
                <a:solidFill>
                  <a:srgbClr val="141414"/>
                </a:solidFill>
                <a:latin typeface="Aptos"/>
              </a:defRPr>
            </a:pPr>
            <a:r>
              <a:t>• Customer analytics tasks are often handled independently, resulting in fragmented analysis.</a:t>
            </a:r>
          </a:p>
          <a:p>
            <a:pPr>
              <a:spcAft>
                <a:spcPts val="1200"/>
              </a:spcAft>
              <a:defRPr sz="1550">
                <a:solidFill>
                  <a:srgbClr val="141414"/>
                </a:solidFill>
                <a:latin typeface="Aptos"/>
              </a:defRPr>
            </a:pPr>
            <a:r>
              <a:t>• Machine learning predictions may not clearly explain which customer features drive the output.</a:t>
            </a:r>
          </a:p>
          <a:p>
            <a:pPr>
              <a:spcAft>
                <a:spcPts val="1200"/>
              </a:spcAft>
              <a:defRPr sz="1550">
                <a:solidFill>
                  <a:srgbClr val="141414"/>
                </a:solidFill>
                <a:latin typeface="Aptos"/>
              </a:defRPr>
            </a:pPr>
            <a:r>
              <a:t>• Existing ML models need stronger integration with interactive business intelligence dashboards.</a:t>
            </a:r>
          </a:p>
          <a:p>
            <a:pPr>
              <a:spcAft>
                <a:spcPts val="1200"/>
              </a:spcAft>
              <a:defRPr sz="1550">
                <a:solidFill>
                  <a:srgbClr val="141414"/>
                </a:solidFill>
                <a:latin typeface="Aptos"/>
              </a:defRPr>
            </a:pPr>
            <a:r>
              <a:t>• Purchase prediction, customer segmentation, churn, and CLV are often studied separately.</a:t>
            </a:r>
          </a:p>
          <a:p>
            <a:pPr>
              <a:spcAft>
                <a:spcPts val="1200"/>
              </a:spcAft>
              <a:defRPr sz="1550">
                <a:solidFill>
                  <a:srgbClr val="141414"/>
                </a:solidFill>
                <a:latin typeface="Aptos"/>
              </a:defRPr>
            </a:pPr>
            <a:r>
              <a:t>• Explainable AI techniques such as SHAP and LIME are not always integrated with business analytics.</a:t>
            </a:r>
          </a:p>
          <a:p>
            <a:pPr>
              <a:spcAft>
                <a:spcPts val="1200"/>
              </a:spcAft>
              <a:defRPr sz="1550">
                <a:solidFill>
                  <a:srgbClr val="141414"/>
                </a:solidFill>
                <a:latin typeface="Aptos"/>
              </a:defRPr>
            </a:pPr>
            <a:r>
              <a:t>• Limited research combines purchase prediction + segmentation + churn + CLV + explainability + BI in a single framework.</a:t>
            </a:r>
          </a:p>
          <a:p>
            <a:pPr>
              <a:spcAft>
                <a:spcPts val="1200"/>
              </a:spcAft>
              <a:defRPr sz="1550">
                <a:solidFill>
                  <a:srgbClr val="141414"/>
                </a:solidFill>
                <a:latin typeface="Aptos"/>
              </a:defRPr>
            </a:pPr>
            <a:r>
              <a:t>• There is a need for an integrated system that converts customer data into understandable and actionable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8. Project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D52"/>
                </a:solidFill>
              </a:defRPr>
            </a:pPr>
            <a:r>
              <a:t>Phase 1 – Research &amp; Dataset</a:t>
            </a:r>
          </a:p>
          <a:p>
            <a:pPr>
              <a:spcBef>
                <a:spcPts val="1200"/>
              </a:spcBef>
              <a:defRPr sz="1200">
                <a:solidFill>
                  <a:srgbClr val="141414"/>
                </a:solidFill>
              </a:defRPr>
            </a:pPr>
            <a:r>
              <a:t>Literature study</a:t>
            </a:r>
            <a:br/>
            <a:r>
              <a:t>Problem definition</a:t>
            </a:r>
            <a:br/>
            <a:r>
              <a:t>Dataset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0048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D52"/>
                </a:solidFill>
              </a:defRPr>
            </a:pPr>
            <a:r>
              <a:t>Phase 2 – Data Preparation</a:t>
            </a:r>
          </a:p>
          <a:p>
            <a:pPr>
              <a:spcBef>
                <a:spcPts val="1200"/>
              </a:spcBef>
              <a:defRPr sz="1200">
                <a:solidFill>
                  <a:srgbClr val="141414"/>
                </a:solidFill>
              </a:defRPr>
            </a:pPr>
            <a:r>
              <a:t>Data cleaning</a:t>
            </a:r>
            <a:br/>
            <a:r>
              <a:t>Missing values &amp; outliers</a:t>
            </a:r>
            <a:br/>
            <a:r>
              <a:t>Encoding and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0055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38927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D52"/>
                </a:solidFill>
              </a:defRPr>
            </a:pPr>
            <a:r>
              <a:t>Phase 3 – ML Development</a:t>
            </a:r>
          </a:p>
          <a:p>
            <a:pPr>
              <a:spcBef>
                <a:spcPts val="1200"/>
              </a:spcBef>
              <a:defRPr sz="1200">
                <a:solidFill>
                  <a:srgbClr val="141414"/>
                </a:solidFill>
              </a:defRPr>
            </a:pPr>
            <a:r>
              <a:t>Feature engineering</a:t>
            </a:r>
            <a:br/>
            <a:r>
              <a:t>Model training</a:t>
            </a:r>
            <a:br/>
            <a:r>
              <a:t>Model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0063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88936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D52"/>
                </a:solidFill>
              </a:defRPr>
            </a:pPr>
            <a:r>
              <a:t>Phase 4 – Evaluation &amp; XAI</a:t>
            </a:r>
          </a:p>
          <a:p>
            <a:pPr>
              <a:spcBef>
                <a:spcPts val="1200"/>
              </a:spcBef>
              <a:defRPr sz="1200">
                <a:solidFill>
                  <a:srgbClr val="141414"/>
                </a:solidFill>
              </a:defRPr>
            </a:pPr>
            <a:r>
              <a:t>Performance metrics</a:t>
            </a:r>
            <a:br/>
            <a:r>
              <a:t>SHAP analysis</a:t>
            </a:r>
            <a:br/>
            <a:r>
              <a:t>LIME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0072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38944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D52"/>
                </a:solidFill>
              </a:defRPr>
            </a:pPr>
            <a:r>
              <a:t>Phase 5 – Deployment</a:t>
            </a:r>
          </a:p>
          <a:p>
            <a:pPr>
              <a:spcBef>
                <a:spcPts val="1200"/>
              </a:spcBef>
              <a:defRPr sz="1200">
                <a:solidFill>
                  <a:srgbClr val="141414"/>
                </a:solidFill>
              </a:defRPr>
            </a:pPr>
            <a:r>
              <a:t>Streamlit dashboard</a:t>
            </a:r>
            <a:br/>
            <a:r>
              <a:t>Business insights</a:t>
            </a:r>
            <a:br/>
            <a:r>
              <a:t>Final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B2D52"/>
                </a:solidFill>
              </a:defRPr>
            </a:pPr>
            <a:r>
              <a:t>Roadmap: Research → Data → Models → Evaluation → XAI → Dashboard → Business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9.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Integrated Analytics</a:t>
            </a:r>
            <a:r>
              <a:rPr sz="2150">
                <a:latin typeface="Aptos"/>
              </a:rPr>
              <a:t> combines purchase prediction, customer segmentation, churn, and CLV in one workflow.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Explainable AI</a:t>
            </a:r>
            <a:r>
              <a:rPr sz="2150">
                <a:latin typeface="Aptos"/>
              </a:rPr>
              <a:t> uses SHAP and LIME to make model predictions understandable and transparent.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RFM + Machine Learning</a:t>
            </a:r>
            <a:r>
              <a:rPr sz="2150">
                <a:latin typeface="Aptos"/>
              </a:rPr>
              <a:t> connects customer value and purchasing patterns with predictive analytics.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Interactive Business Intelligence</a:t>
            </a:r>
            <a:r>
              <a:rPr sz="2150">
                <a:latin typeface="Aptos"/>
              </a:rPr>
              <a:t> presents predictions, explanations, and customer insights through a Streamlit dashboard.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Actionable Insights</a:t>
            </a:r>
            <a:r>
              <a:rPr sz="2150">
                <a:latin typeface="Aptos"/>
              </a:rPr>
              <a:t> converts analytical results into practical decisions for customer engagement and sales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00000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10.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Data Feasibility</a:t>
            </a:r>
            <a:r>
              <a:rPr sz="2150">
                <a:latin typeface="Aptos"/>
              </a:rPr>
              <a:t> uses benchmark/business customer datasets containing transactions, demographics, spending, and behavior-related attributes.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Technical Feasibility</a:t>
            </a:r>
            <a:r>
              <a:rPr sz="2150">
                <a:latin typeface="Aptos"/>
              </a:rPr>
              <a:t> can be implemented with Python, Pandas, NumPy, Scikit-learn, SHAP, LIME, and Streamlit.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Model Feasibility</a:t>
            </a:r>
            <a:r>
              <a:rPr sz="2150">
                <a:latin typeface="Aptos"/>
              </a:rPr>
              <a:t> supports established models such as Logistic Regression, Decision Tree, Random Forest, XGBoost, and CatBoost.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Deployment Feasibility</a:t>
            </a:r>
            <a:r>
              <a:rPr sz="2150">
                <a:latin typeface="Aptos"/>
              </a:rPr>
              <a:t> the interactive dashboard can be developed and demonstrated using Streamlit.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150">
                <a:latin typeface="Aptos"/>
              </a:rPr>
              <a:t>• </a:t>
            </a:r>
            <a:r>
              <a:rPr sz="2150" b="1">
                <a:latin typeface="Aptos"/>
              </a:rPr>
              <a:t>Evaluation Feasibility</a:t>
            </a:r>
            <a:r>
              <a:rPr sz="2150">
                <a:latin typeface="Aptos"/>
              </a:rPr>
              <a:t> model performance can be compared using suitable metrics, while SHAP and LIME provide prediction explanations.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00000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11. Proposed Work and Its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Combines purchase prediction, customer segmentation, churn, CLV, and recommendations in one workflow.</a:t>
            </a:r>
          </a:p>
          <a:p>
            <a:pPr>
              <a:spcAft>
                <a:spcPts val="12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Uses multiple machine learning models including Logistic Regression, Decision Tree, Random Forest, XGBoost, and CatBoost.</a:t>
            </a:r>
          </a:p>
          <a:p>
            <a:pPr>
              <a:spcAft>
                <a:spcPts val="12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Integrates RFM analysis to understand customer purchasing patterns and customer value.</a:t>
            </a:r>
          </a:p>
          <a:p>
            <a:pPr>
              <a:spcAft>
                <a:spcPts val="12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Uses SHAP and LIME to explain the factors influencing machine learning predictions.</a:t>
            </a:r>
          </a:p>
          <a:p>
            <a:pPr>
              <a:spcAft>
                <a:spcPts val="12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Provides an interactive Streamlit dashboard for visualization and business intelligence.</a:t>
            </a:r>
          </a:p>
          <a:p>
            <a:pPr>
              <a:spcAft>
                <a:spcPts val="12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• Converts analytical results into actionable business insights for customer engagement and sales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D52"/>
                </a:solidFill>
              </a:defRPr>
            </a:pPr>
            <a:r>
              <a:t>Customer Data → Data Preprocessing → EDA &amp; RFM → ML → Evaluation → SHAP/LIME → Dashboard → Business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12.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[1] Research on E-Commerce Purchase Prediction Model Based on Machine Learning, Frontiers in Artificial Intelligence and Applications, 2023.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[2] Retail Industry Analytics: Unraveling Consumer Behavior through RFM Segmentation and Machine Learning, IEEE eIT, 2024.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[3] Customer Churn Prediction Model using Explainable Machine Learning, 2023.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[4] A Data-Driven Approach to Customer Lifetime Value Prediction Using Probability and Machine Learning Models, 2025.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[5] A Hybrid CNN-BiLSTM Approach for Predicting the Purchase Behavior of Customers in E-Commerce, Scientific Reports,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[6] Supervised Distance Metric Learning with RFM-Based Business Knowledge for Customer Segmentation, Procedia Computer Science,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[7] Automating Consumer Segmentation in E-Commerce Using Clustering and the NSGA-II Algorithm, Procedia Computer Science,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[8] Explainable AI-Driven Customer Churn Prediction: A Multi-Model Ensemble Approach with SHAP-Based Feature Analysis, Frontiers in Artificial Intelligence,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[9] Forecasting Online Shoppers’ Purchase Intentions Using Machine Learning and Ensemble Modeling, Springer LNICST,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[10] Predicting E-Commerce Purchase Behavior Using a DQN-Inspired Deep Learning Model,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920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B2D52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1414"/>
                </a:solidFill>
              </a:defRPr>
            </a:pPr>
            <a:r>
              <a:t>Understand → Predict → Explain → Visualize →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B4B4B"/>
                </a:solidFill>
              </a:defRPr>
            </a:pPr>
            <a:r>
              <a:t>Customer Data → Machine Learning → Explainable Insights → Better Business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1231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Divija Medha</cp:lastModifiedBy>
  <cp:revision>2</cp:revision>
  <dcterms:created xsi:type="dcterms:W3CDTF">2013-01-27T09:14:16Z</dcterms:created>
  <dcterms:modified xsi:type="dcterms:W3CDTF">2026-08-14T13:33:44Z</dcterms:modified>
  <cp:category/>
</cp:coreProperties>
</file>