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8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086" y="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881360" cy="4526280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0AFD2"/>
                </a:solidFill>
                <a:latin typeface="Aptos"/>
              </a:defRPr>
            </a:pPr>
            <a:r>
              <a:t>DATA ANALYTICS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Machine Learning-Based</a:t>
            </a:r>
            <a:br/>
            <a:r>
              <a:t>Consumer Purchase Behavior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8211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DCE7F5"/>
                </a:solidFill>
                <a:latin typeface="Aptos"/>
              </a:defRPr>
            </a:pPr>
            <a:r>
              <a:t>AI-Driven Customer Analytics for Purchase Prediction, Segmentation &amp; Business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160520"/>
            <a:ext cx="2240280" cy="475488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4160520"/>
            <a:ext cx="2240280" cy="475488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1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3" y="4160520"/>
            <a:ext cx="2240280" cy="475488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81343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656" y="4160520"/>
            <a:ext cx="2240280" cy="475488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23376" y="4187952"/>
            <a:ext cx="21488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412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dirty="0"/>
              <a:t>2420030373 – M. Pallavi   |   2420030481 – G. Divija Medha   |   2420090</a:t>
            </a:r>
            <a:r>
              <a:rPr lang="en-US" dirty="0"/>
              <a:t>06</a:t>
            </a:r>
            <a:r>
              <a:rPr dirty="0"/>
              <a:t>7 – Sheri </a:t>
            </a:r>
            <a:r>
              <a:rPr dirty="0" err="1"/>
              <a:t>Saswitha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Why is customer purchase behavior difficult to understand and predict?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257800" cy="150876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150876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01  LARGE CUSTOMER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33472"/>
            <a:ext cx="4983480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Transactions, demographics, spending patterns and online behavior generate complex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148840"/>
            <a:ext cx="5257800" cy="150876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2148840"/>
            <a:ext cx="50292" cy="150876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02  HIDDEN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33472"/>
            <a:ext cx="4983480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Important relationships and purchasing patterns may remain hidden inside customer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05072"/>
            <a:ext cx="5257800" cy="1508760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005072"/>
            <a:ext cx="50292" cy="150876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12394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03  PREDICTION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89704"/>
            <a:ext cx="4983480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Organizations need to predict purchases, churn and customer lifetime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005072"/>
            <a:ext cx="5257800" cy="1508760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4005072"/>
            <a:ext cx="50292" cy="150876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12394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04  BUSINESS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9704"/>
            <a:ext cx="4983480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Analytical findings must be converted into actionable marketing and sales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Three strategic goals guide the proposed customer intelligence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154680" cy="32461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324612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2491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552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Purchasing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85615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1596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RFM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148840"/>
            <a:ext cx="3154680" cy="32461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148840"/>
            <a:ext cx="50292" cy="32461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226771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72491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Future purchases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32552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Purchase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785615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31596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lifetime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48840"/>
            <a:ext cx="3154680" cy="3246120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2148840"/>
            <a:ext cx="50292" cy="324612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9831" y="226771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71B33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272491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32552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Product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3785615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Customer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431596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70" b="0">
                <a:solidFill>
                  <a:srgbClr val="232D3A"/>
                </a:solidFill>
                <a:latin typeface="Aptos"/>
              </a:defRPr>
            </a:pPr>
            <a:r>
              <a:t>• Business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650992"/>
            <a:ext cx="6675120" cy="438912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5678424"/>
            <a:ext cx="6583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SHAP + LIME + STREAMLIT  |  Explainability + Business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Key research themes relevant to customer purchase behavior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RESEARCH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019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LIMITATION /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50292" cy="658368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35915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Traditional Customer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13432"/>
            <a:ext cx="4617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Descriptive analysis of transactions, sales trends and customer summaries.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13432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Limited predictive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08376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08376"/>
            <a:ext cx="50292" cy="658368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1272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RFM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81528"/>
            <a:ext cx="4617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Segments customers using Recency, Frequency and Monetary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8152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Primarily segmentation-focused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76472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776472"/>
            <a:ext cx="50292" cy="658368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8953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849624"/>
            <a:ext cx="4617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Logistic Regression, Decision Tree and ensemble models support customer prediction.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49624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Requires model 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44568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544568"/>
            <a:ext cx="50292" cy="658368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66344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617720"/>
            <a:ext cx="4617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SHAP and LIME help interpret machine-learning predictions.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617720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Often separated from BI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312664"/>
            <a:ext cx="27889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5312664"/>
            <a:ext cx="50292" cy="658368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431536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30" b="1">
                <a:solidFill>
                  <a:srgbClr val="071B33"/>
                </a:solidFill>
                <a:latin typeface="Aptos"/>
              </a:defRPr>
            </a:pPr>
            <a:r>
              <a:t>Business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385816"/>
            <a:ext cx="4617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232D3A"/>
                </a:solidFill>
                <a:latin typeface="Aptos"/>
              </a:defRPr>
            </a:pPr>
            <a:r>
              <a:t>Dashboards convert analytical results into decision-support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385816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9" b="0">
                <a:solidFill>
                  <a:srgbClr val="5C697A"/>
                </a:solidFill>
                <a:latin typeface="Aptos"/>
              </a:defRPr>
            </a:pPr>
            <a:r>
              <a:t>Integration challenge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6080760"/>
            <a:ext cx="8458200" cy="384048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239" y="6108192"/>
            <a:ext cx="836676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Literature Insight: Integrated ML + Explainable AI + BI is the proposed direction.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Research Gap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Where the proposed project addresses limitations in existing approaches.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1"/>
            <a:ext cx="5257800" cy="153619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84831"/>
            <a:ext cx="50292" cy="153619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03703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01  Fragmented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9463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Customer analytics tasks are often handled independently.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84831"/>
            <a:ext cx="5257800" cy="153619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2084831"/>
            <a:ext cx="50292" cy="153619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03703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02  Limited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9463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Predictions may not clearly show which features drive the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257800" cy="153619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50292" cy="153619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096511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03  Business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62272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ML models need stronger integration with interactive decision-support dashboards.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977639"/>
            <a:ext cx="5257800" cy="153619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3977639"/>
            <a:ext cx="50292" cy="153619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096511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071B33"/>
                </a:solidFill>
                <a:latin typeface="Aptos"/>
              </a:defRPr>
            </a:pPr>
            <a:r>
              <a:t>GAP 04  Multiple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62272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Purchase prediction, segmentation, churn and CLV can be addressed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5806440"/>
            <a:ext cx="7909560" cy="475488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5833872"/>
            <a:ext cx="7818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RESEARCH DIRECTION  →  Machine Learning + Explainable AI + Interactive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End-to-end pipeline from benchmark datasets to actionable business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103120"/>
            <a:ext cx="2212848" cy="23317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50292" cy="233172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01 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938528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UCI Online Retail II</a:t>
            </a:r>
            <a:br/>
            <a:r>
              <a:t>Customer Personality</a:t>
            </a:r>
            <a:br/>
            <a:r>
              <a:t>E-Commerce Behavior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3264408"/>
            <a:ext cx="10972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97479" y="2103120"/>
            <a:ext cx="2212848" cy="23317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79" y="2103120"/>
            <a:ext cx="50292" cy="23317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2072" y="2221991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02 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587752"/>
            <a:ext cx="1938528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Missing values</a:t>
            </a:r>
            <a:br/>
            <a:r>
              <a:t>Duplicates</a:t>
            </a:r>
            <a:br/>
            <a:r>
              <a:t>Encoding • Scaling</a:t>
            </a:r>
            <a:br/>
            <a:r>
              <a:t>Outlier handling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0327" y="3264408"/>
            <a:ext cx="109729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10912" y="2103120"/>
            <a:ext cx="2212848" cy="2331720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0912" y="2103120"/>
            <a:ext cx="50292" cy="2331720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5503" y="2221991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03  EDA 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2587752"/>
            <a:ext cx="1938528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Demographics</a:t>
            </a:r>
            <a:br/>
            <a:r>
              <a:t>Purchase patterns</a:t>
            </a:r>
            <a:br/>
            <a:r>
              <a:t>RFM • Correlation</a:t>
            </a:r>
            <a:br/>
            <a:r>
              <a:t>Feature selection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59" y="3264408"/>
            <a:ext cx="109729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24344" y="2103120"/>
            <a:ext cx="2212848" cy="2331720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24344" y="2103120"/>
            <a:ext cx="50292" cy="233172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221991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04  ML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587752"/>
            <a:ext cx="1938528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Logistic Regression</a:t>
            </a:r>
            <a:br/>
            <a:r>
              <a:t>Decision Tree</a:t>
            </a:r>
            <a:br/>
            <a:r>
              <a:t>Random Forest</a:t>
            </a:r>
            <a:br/>
            <a:r>
              <a:t>XGBoost • CatBoost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37192" y="3264408"/>
            <a:ext cx="10972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37776" y="2103120"/>
            <a:ext cx="2212848" cy="2331720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37776" y="2103120"/>
            <a:ext cx="50292" cy="233172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2367" y="2221991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071B33"/>
                </a:solidFill>
                <a:latin typeface="Aptos"/>
              </a:defRPr>
            </a:pPr>
            <a:r>
              <a:t>05 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587752"/>
            <a:ext cx="1938528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0" b="0">
                <a:solidFill>
                  <a:srgbClr val="232D3A"/>
                </a:solidFill>
                <a:latin typeface="Aptos"/>
              </a:defRPr>
            </a:pPr>
            <a:r>
              <a:t>Accuracy</a:t>
            </a:r>
            <a:br/>
            <a:r>
              <a:t>Precision • Recall</a:t>
            </a:r>
            <a:br/>
            <a:r>
              <a:t>F1-Score • ROC-AUC</a:t>
            </a:r>
            <a:br/>
            <a:r>
              <a:t>Confusion Matrix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892040"/>
            <a:ext cx="2148840" cy="64008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205740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  <a:br/>
            <a:r>
              <a:t>SHAP + LIME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892040"/>
            <a:ext cx="2514600" cy="64008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0" y="4919472"/>
            <a:ext cx="242316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  <a:br/>
            <a:r>
              <a:t>STREAMLIT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2286000" cy="640080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919472"/>
            <a:ext cx="2194560" cy="5852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  <a:br/>
            <a:r>
              <a:t>BUSINESS INSIGHTS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17520" y="5212080"/>
            <a:ext cx="411480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43600" y="5212080"/>
            <a:ext cx="411480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006840" y="4882896"/>
            <a:ext cx="22402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71B33"/>
                </a:solidFill>
                <a:latin typeface="Aptos"/>
              </a:defRPr>
            </a:pPr>
            <a:r>
              <a:t>Data → Learning</a:t>
            </a:r>
            <a:br/>
            <a:r>
              <a:t>→ Explanation → 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What makes the proposed framework distinctive?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21408"/>
            <a:ext cx="5257800" cy="153619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50292" cy="153619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40279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INTEGRATED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39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Combines purchase prediction, segmentation, churn, CLV and recommendations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121408"/>
            <a:ext cx="5257800" cy="153619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2121408"/>
            <a:ext cx="50292" cy="153619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79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MULTI-MODEL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Compares Logistic Regression, Decision Tree, Random Forest, XGBoost and CatBoost.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05072"/>
            <a:ext cx="5257800" cy="153619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005072"/>
            <a:ext cx="50292" cy="153619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12394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89704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Uses SHAP and LIME to identify and communicate factors influencing model predictions.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005072"/>
            <a:ext cx="5257800" cy="153619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4005072"/>
            <a:ext cx="50292" cy="153619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12394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071B33"/>
                </a:solidFill>
                <a:latin typeface="Aptos"/>
              </a:defRPr>
            </a:pPr>
            <a:r>
              <a:t>INTERACTIVE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9704"/>
            <a:ext cx="49834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32D3A"/>
                </a:solidFill>
                <a:latin typeface="Aptos"/>
              </a:defRPr>
            </a:pPr>
            <a:r>
              <a:t>Streamlit connects analytical outputs with interactive business decision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806440"/>
            <a:ext cx="8001000" cy="475488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48839" y="5833872"/>
            <a:ext cx="79095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CUSTOMER DATA  →  ML  →  XAI  →  DASHBOARD  →  BUSINESS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Technical, operational and economic feasibility of the proposed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246120" cy="3310128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50292" cy="3310128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21991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919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8211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8503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8795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XGBoost / CatBoost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9087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SHAP / 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9379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Streamlit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103120"/>
            <a:ext cx="3246120" cy="3310128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0" y="2103120"/>
            <a:ext cx="50292" cy="3310128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33672" y="2221991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OPERATIONAL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67919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Interactive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18211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Customer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68503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Prediction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18795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Explainable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69087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03120"/>
            <a:ext cx="3246120" cy="3310128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2103120"/>
            <a:ext cx="50292" cy="3310128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08392" y="2221991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071B33"/>
                </a:solidFill>
                <a:latin typeface="Aptos"/>
              </a:defRPr>
            </a:pPr>
            <a:r>
              <a:t>ECONOMIC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67919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Open-source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318211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Benchmark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68503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Standard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18795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No specialized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69087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• Scalable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742432"/>
            <a:ext cx="8503920" cy="457200"/>
          </a:xfrm>
          <a:prstGeom prst="roundRect">
            <a:avLst/>
          </a:prstGeom>
          <a:solidFill>
            <a:srgbClr val="ED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74519" y="5769864"/>
            <a:ext cx="841248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30" b="1">
                <a:solidFill>
                  <a:srgbClr val="071B33"/>
                </a:solidFill>
                <a:latin typeface="Aptos"/>
              </a:defRPr>
            </a:pPr>
            <a:r>
              <a:t>OVERALL ASSESSMENT  |  Implementable with commonly available data-science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Project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Implementation roadmap from research and data preparation to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2057400" cy="2788920"/>
          </a:xfrm>
          <a:prstGeom prst="roundRect">
            <a:avLst/>
          </a:prstGeom>
          <a:solidFill>
            <a:srgbClr val="EEF6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2057400" cy="91440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4" y="2395728"/>
            <a:ext cx="1764792" cy="393192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907792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RESEARCH &amp;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68503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Literature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1879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69087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Dataset selection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34056" y="2148840"/>
            <a:ext cx="2057400" cy="2788920"/>
          </a:xfrm>
          <a:prstGeom prst="roundRect">
            <a:avLst/>
          </a:prstGeom>
          <a:solidFill>
            <a:srgbClr val="F5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34056" y="2148840"/>
            <a:ext cx="2057400" cy="91440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80360" y="2395728"/>
            <a:ext cx="1764792" cy="393192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907792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68503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1879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Exploratory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9087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Missing values &amp; outliers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91456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56632" y="2148840"/>
            <a:ext cx="2057400" cy="2788920"/>
          </a:xfrm>
          <a:prstGeom prst="roundRect">
            <a:avLst/>
          </a:prstGeom>
          <a:solidFill>
            <a:srgbClr val="EEF6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56632" y="2148840"/>
            <a:ext cx="2057400" cy="91440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02936" y="2395728"/>
            <a:ext cx="1764792" cy="393192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656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907792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ML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368503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Feature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224" y="41879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Model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469087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Model comparison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14032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79208" y="2148840"/>
            <a:ext cx="2057400" cy="2788920"/>
          </a:xfrm>
          <a:prstGeom prst="roundRect">
            <a:avLst/>
          </a:prstGeom>
          <a:solidFill>
            <a:srgbClr val="FFF8E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79208" y="2148840"/>
            <a:ext cx="2057400" cy="91440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525512" y="2395728"/>
            <a:ext cx="1764792" cy="393192"/>
          </a:xfrm>
          <a:prstGeom prst="round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71232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907792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EVALUATION &amp; 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68503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Performance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879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SHAP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69087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LIME analysis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36608" y="3538728"/>
            <a:ext cx="201168" cy="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701784" y="2148840"/>
            <a:ext cx="2057400" cy="2788920"/>
          </a:xfrm>
          <a:prstGeom prst="roundRect">
            <a:avLst/>
          </a:prstGeom>
          <a:solidFill>
            <a:srgbClr val="EDF9F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701784" y="2148840"/>
            <a:ext cx="2057400" cy="91440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848088" y="2395728"/>
            <a:ext cx="1764792" cy="393192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93808" y="2423160"/>
            <a:ext cx="1673351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8088" y="2907792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0" b="1">
                <a:solidFill>
                  <a:srgbClr val="071B33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368503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Streamlit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6376" y="41879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66376" y="469087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t>• Final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3095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50" b="1">
                <a:solidFill>
                  <a:srgbClr val="071B33"/>
                </a:solidFill>
                <a:latin typeface="Aptos"/>
              </a:defRPr>
            </a:pPr>
            <a:r>
              <a:t>Research  →  Data  →  Models  →  Evaluation  →  Dashboard  →  Final Insights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7424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C697A"/>
                </a:solidFill>
                <a:latin typeface="Aptos"/>
              </a:defRPr>
            </a:pPr>
            <a:r>
              <a:t>Each phase produces the inputs required for the next stage.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What the completed project is intended to deliver.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84831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50591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Analyze customer demographics and purchasing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9992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64991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Predict future customer purchases.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9136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79392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Identify customer segments using data-driven techniques.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5166360" cy="71323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709160"/>
            <a:ext cx="50292" cy="71323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8280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193792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Predict customer churn and customer lifetime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9659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9659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084831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450591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Explain model predictions using SHAP and LIME.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8803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8803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29992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364991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Develop an interactive Streamlit dashboard.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947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7947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39136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279392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Compare multiple machine learning approaches.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09160"/>
            <a:ext cx="5166360" cy="71323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4709160"/>
            <a:ext cx="50292" cy="71323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482803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OUTCOME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5193792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232D3A"/>
                </a:solidFill>
                <a:latin typeface="Aptos"/>
              </a:defRPr>
            </a:pPr>
            <a:r>
              <a:t>Generate actionable insights to improve customer engagement and sales.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146EF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093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Logical flow of the proposed customer purchase behavior analytics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47672"/>
            <a:ext cx="566928" cy="45720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975103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9888" y="1920240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89888" y="1920240"/>
            <a:ext cx="50292" cy="53035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04872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UCI Retail II  |  Customer Personality  |  E-Commerce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2512" y="2450592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514600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9888" y="2487168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89888" y="2487168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2606040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71800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Cleaning  |  Encoding  |  Scaling  |  Feature Engineering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82512" y="3017520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3081528"/>
            <a:ext cx="566928" cy="457200"/>
          </a:xfrm>
          <a:prstGeom prst="round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108960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9888" y="3054096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89888" y="3054096"/>
            <a:ext cx="50292" cy="530352"/>
          </a:xfrm>
          <a:prstGeom prst="rect">
            <a:avLst/>
          </a:prstGeom>
          <a:solidFill>
            <a:srgbClr val="00A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3172968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EDA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538728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Demographics  |  Purchase Patterns  |  RFM  |  Segmentation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82512" y="3584448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3648456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3675888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89888" y="3621024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89888" y="3621024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3739896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105656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Logistic Regression  |  Decision Tree  |  Random Forest  |  XGBoost  |  CatBoost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82512" y="4151376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215384"/>
            <a:ext cx="566928" cy="457200"/>
          </a:xfrm>
          <a:prstGeom prst="round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" y="4242816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9888" y="4187952"/>
            <a:ext cx="10104120" cy="530352"/>
          </a:xfrm>
          <a:prstGeom prst="roundRect">
            <a:avLst/>
          </a:prstGeom>
          <a:solidFill>
            <a:srgbClr val="FFF8E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89888" y="4187952"/>
            <a:ext cx="50292" cy="530352"/>
          </a:xfrm>
          <a:prstGeom prst="rect">
            <a:avLst/>
          </a:prstGeom>
          <a:solidFill>
            <a:srgbClr val="EF9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4306824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672584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Accuracy  |  Precision  |  Recall  |  F1-Score  |  ROC-AUC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82512" y="4718304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8368" y="4782312"/>
            <a:ext cx="566928" cy="457200"/>
          </a:xfrm>
          <a:prstGeom prst="round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4809744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89888" y="4754880"/>
            <a:ext cx="10104120" cy="530352"/>
          </a:xfrm>
          <a:prstGeom prst="roundRect">
            <a:avLst/>
          </a:prstGeom>
          <a:solidFill>
            <a:srgbClr val="F5F2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389888" y="4754880"/>
            <a:ext cx="50292" cy="5303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54480" y="4873752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239512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SHAP  |  LIME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82512" y="5285232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8368" y="5349240"/>
            <a:ext cx="566928" cy="457200"/>
          </a:xfrm>
          <a:prstGeom prst="round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" y="5376672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89888" y="5321808"/>
            <a:ext cx="10104120" cy="530352"/>
          </a:xfrm>
          <a:prstGeom prst="roundRect">
            <a:avLst/>
          </a:prstGeom>
          <a:solidFill>
            <a:srgbClr val="EEF6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389888" y="5321808"/>
            <a:ext cx="50292" cy="53035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54480" y="5440680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806440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Interactive Streamlit Visualizations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382512" y="5852160"/>
            <a:ext cx="0" cy="91440"/>
          </a:xfrm>
          <a:prstGeom prst="line">
            <a:avLst/>
          </a:prstGeom>
          <a:ln w="19050">
            <a:solidFill>
              <a:srgbClr val="146E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8368" y="5916168"/>
            <a:ext cx="566928" cy="457200"/>
          </a:xfrm>
          <a:prstGeom prst="round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4088" y="5943600"/>
            <a:ext cx="47548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89888" y="5888736"/>
            <a:ext cx="10104120" cy="530352"/>
          </a:xfrm>
          <a:prstGeom prst="roundRect">
            <a:avLst/>
          </a:prstGeom>
          <a:solidFill>
            <a:srgbClr val="EDF9F5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389888" y="5888736"/>
            <a:ext cx="50292" cy="530352"/>
          </a:xfrm>
          <a:prstGeom prst="rect">
            <a:avLst/>
          </a:prstGeom>
          <a:solidFill>
            <a:srgbClr val="159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54480" y="6007608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80" b="1">
                <a:solidFill>
                  <a:srgbClr val="071B33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54480" y="6373368"/>
            <a:ext cx="98298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80" b="0">
                <a:solidFill>
                  <a:srgbClr val="232D3A"/>
                </a:solidFill>
                <a:latin typeface="Aptos"/>
              </a:defRPr>
            </a:pPr>
            <a:r>
              <a:t>Predictions  |  Segmentation  |  Recommendations  |  Insights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46EF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46EF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078992"/>
            <a:ext cx="9235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AFD2"/>
                </a:solidFill>
                <a:latin typeface="Aptos Display"/>
              </a:rP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813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578"/>
                </a:solidFill>
                <a:latin typeface="Aptos"/>
              </a:rPr>
              <a:t>Selected recent research from IEEE, Springer Nature, and ACM (2025–2026)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1874519"/>
            <a:ext cx="5230368" cy="4187952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1874519"/>
            <a:ext cx="54864" cy="4187952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2011679"/>
            <a:ext cx="48188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6EF5"/>
                </a:solidFill>
                <a:latin typeface="Aptos"/>
              </a:rPr>
              <a:t>01–05  |  SPRINGER NATURE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1874519"/>
            <a:ext cx="5230368" cy="4187952"/>
          </a:xfrm>
          <a:prstGeom prst="roundRect">
            <a:avLst/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1874519"/>
            <a:ext cx="54864" cy="4187952"/>
          </a:xfrm>
          <a:prstGeom prst="rect">
            <a:avLst/>
          </a:prstGeom>
          <a:solidFill>
            <a:srgbClr val="68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011679"/>
            <a:ext cx="48188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853DC"/>
                </a:solidFill>
                <a:latin typeface="Aptos"/>
              </a:rPr>
              <a:t>06–10  |  ACM + IEEE + SPRINGER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286000"/>
            <a:ext cx="4709160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[1] Z. Lou, S. Wang, X. Yu, and W. Song, "Predicting customer buying habits using convolutional neural network," Journal of Big Data, vol. 13, art. 122, 2026. Springer. doi: 10.1186/s40537-026-01464-y.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[2] H. Zhang and Y. Ju, "Analysis of customer shopping behavior on E-commerce platform supported by fuzzy clustering algorithm," Discover Computing, vol. 29, art. 281, 2026. Springer. doi: 10.1007/s10791-026-10151-8.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[3] C. K. K. Bharathi and K. Elakkiyan, "Leveraging artificial intelligence for predictive modelling of consumer buying intentions on E-Commerce platforms," Discover Artificial Intelligence, vol. 6, art. 108, 2026. Springer. doi: 10.1007/s44163-025-00815-7.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[4] I. Surana, M. C. Belavagi, and Ramyashree, "KALEFormer: a transformer based model integrating KMeans clustering and LDA for market basket analysis," Discover Computing, vol. 29, art. 224, 2026. Springer. doi: 10.1007/s10791-026-10103-2.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[5] A. M. Vyas and G. S. Kushwaha, "Enhancing consumer decision-making in shopping 4.0: the impact of augmented reality on emotional engagement and purchase behavior," Future Business Journal, vol. 12, art. 207, 2026. Springer. doi: 10.1186/s43093-026-00906-6.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2286000"/>
            <a:ext cx="4709160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[6] A. Poniszewska-Maranda, M. Pakula, and B. Borowska, "Recommendation systems in e-commerce applications with machine learning methods," EASE 2025, pp. 720–725, 2025. ACM. doi: 10.1145/3756681.3757082.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[7] T. Wang, J. Lin, Y. Zhang, and J. Zhang, "Machine Learning-Based Random Forest Prediction of Online Shopping Behavior in the Digital Economy," DEIS 2025, pp. 315–320, 2025. ACM. doi: 10.1145/3745133.3745186.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[8] X. Wu, "Category prediction of users' purchase intentions on e-commerce platforms based on machine learning algorithms," BDEIM 2025, 2026. ACM. doi: 10.1145/3800000.3800178.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[9] E. Dritsas and M. Trigka, "Machine Learning in E-Commerce: Trends, Applications, and Future Challenges," IEEE Access, vol. 13, pp. 99048–99075, 2025. doi: 10.1109/ACCESS.2025.3572865.</a:t>
            </a:r>
          </a:p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40">
                <a:solidFill>
                  <a:srgbClr val="162334"/>
                </a:solidFill>
                <a:latin typeface="Aptos"/>
              </a:rPr>
              <a:t>[10] N. Kumar, "Intelligent customer segmentation: unveiling consumer patterns with machine learning," Journal of Umm Al-Qura University for Engineering and Architecture, vol. 16, pp. 774–783, 2025. Springer. doi: 10.1007/s43995-025-00180-7.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99846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i="1">
                <a:solidFill>
                  <a:srgbClr val="586578"/>
                </a:solidFill>
                <a:latin typeface="Aptos"/>
              </a:rPr>
              <a:t>References selected for direct relevance to purchase prediction, customer segmentation, recommendation, and e-commerce analytics.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1999" cy="932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2688"/>
            <a:ext cx="12191999" cy="32004"/>
          </a:xfrm>
          <a:prstGeom prst="rect">
            <a:avLst/>
          </a:prstGeom>
          <a:solidFill>
            <a:srgbClr val="14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881360" cy="4526280"/>
          </a:xfrm>
          <a:prstGeom prst="round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0AFD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From Customer Data to Intelligent Business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UNDERSTAND</a:t>
            </a:r>
            <a:br/>
            <a:r>
              <a:t>Customer Behavior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3703320"/>
            <a:ext cx="237744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3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PREDICT</a:t>
            </a:r>
            <a:br/>
            <a:r>
              <a:t>Purchases &amp; Churn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3703320"/>
            <a:ext cx="237743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5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EXPLAIN</a:t>
            </a:r>
            <a:br/>
            <a:r>
              <a:t>SHAP &amp; LIME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59" y="3703320"/>
            <a:ext cx="237745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3759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79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VISUALIZE</a:t>
            </a:r>
            <a:br/>
            <a:r>
              <a:t>Streamlit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3703320"/>
            <a:ext cx="237744" cy="0"/>
          </a:xfrm>
          <a:prstGeom prst="line">
            <a:avLst/>
          </a:prstGeom>
          <a:ln w="19050">
            <a:solidFill>
              <a:srgbClr val="00A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0" y="3273552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3300984"/>
            <a:ext cx="1783079" cy="8138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71B33"/>
                </a:solidFill>
                <a:latin typeface="Aptos"/>
              </a:defRPr>
            </a:pPr>
            <a:r>
              <a:t>DECIDE</a:t>
            </a:r>
            <a:br/>
            <a:r>
              <a:t>Business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9432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Customer Data  →  Machine Learning  →  Explainable Insights  →  Better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0AFD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>
                <a:solidFill>
                  <a:srgbClr val="DCE7F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9672"/>
            <a:ext cx="12191999" cy="13716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C697A"/>
                </a:solidFill>
                <a:latin typeface="Aptos"/>
              </a:defRPr>
            </a:pPr>
            <a:r>
              <a:t>Machine Learning-Based Consumer Purchase Behavior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46EF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1045</Words>
  <Application>Microsoft Office PowerPoint</Application>
  <PresentationFormat>Widescreen</PresentationFormat>
  <Paragraphs>224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SHERI</dc:creator>
  <cp:keywords/>
  <dc:description>generated using python-pptx</dc:description>
  <cp:lastModifiedBy>saswithasheri@gmail.com</cp:lastModifiedBy>
  <cp:revision>2</cp:revision>
  <dcterms:created xsi:type="dcterms:W3CDTF">2013-01-27T09:14:16Z</dcterms:created>
  <dcterms:modified xsi:type="dcterms:W3CDTF">2026-08-12T06:55:21Z</dcterms:modified>
  <cp:category/>
</cp:coreProperties>
</file>